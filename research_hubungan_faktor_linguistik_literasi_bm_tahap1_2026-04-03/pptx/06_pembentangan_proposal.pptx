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Bilangan murid</c:v>
                </c:pt>
              </c:strCache>
            </c:strRef>
          </c:tx>
          <c:spPr>
            <a:solidFill>
              <a:srgbClr val="1F7A8C"/>
            </a:solidFill>
          </c:spPr>
          <c:cat>
            <c:strRef>
              <c:f>Sheet1!$A$2:$A$4</c:f>
              <c:strCache>
                <c:ptCount val="3"/>
                <c:pt idx="0">
                  <c:v>Disaring</c:v>
                </c:pt>
                <c:pt idx="1">
                  <c:v>Belum kuasai 3M</c:v>
                </c:pt>
                <c:pt idx="2">
                  <c:v>Berjaya selepas intervensi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448113</c:v>
                </c:pt>
                <c:pt idx="1">
                  <c:v>122062</c:v>
                </c:pt>
                <c:pt idx="2">
                  <c:v>48308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00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0E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77639" y="0"/>
            <a:ext cx="182880" cy="6858000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663440" y="640080"/>
            <a:ext cx="2743200" cy="347472"/>
          </a:xfrm>
          <a:prstGeom prst="round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PEMBENTANGAN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325880"/>
            <a:ext cx="6858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12B36"/>
                </a:solidFill>
                <a:latin typeface="Aptos"/>
              </a:defRPr>
            </a:pPr>
            <a:r>
              <a:t>Hubungan antara Faktor Linguistik dan Keberkesanan Strategi Pengajaran Literasi Bahasa Melayu Murid Tahap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297180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D6C7A"/>
                </a:solidFill>
                <a:latin typeface="Aptos"/>
              </a:defRPr>
            </a:pPr>
            <a:r>
              <a:t>Cadangan kajian untuk meneliti padanan antara profil linguistik murid Tahap 1 dengan strategi pengajaran literasi Bahasa Melayu.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Nama Penyelidik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______________________________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Program / Fakulti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______________________________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440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"/>
              </a:defRPr>
            </a:pPr>
            <a:r>
              <a:t>3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  <a:latin typeface="Aptos Display"/>
              </a:defRPr>
            </a:pPr>
            <a:r>
              <a:t>Struktur Pembentangan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8412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6E4E8"/>
                </a:solidFill>
                <a:latin typeface="Aptos"/>
              </a:defRPr>
            </a:pPr>
            <a:r>
              <a:t>Aliran ringkas proposal kajian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4663440" cy="4389120"/>
          </a:xfrm>
          <a:prstGeom prst="rect">
            <a:avLst/>
          </a:prstGeom>
          <a:noFill/>
        </p:spPr>
        <p:txBody>
          <a:bodyPr wrap="square" lIns="25400" rIns="25400" tIns="25400" anchor="t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12B36"/>
                </a:solidFill>
                <a:latin typeface="Aptos"/>
              </a:defRPr>
            </a:pPr>
            <a:r>
              <a:t>Latar belakang, isu dan keperluan kajian</a:t>
            </a:r>
          </a:p>
          <a:p>
            <a:pPr>
              <a:spcAft>
                <a:spcPts val="800"/>
              </a:spcAft>
              <a:defRPr sz="1900">
                <a:solidFill>
                  <a:srgbClr val="212B36"/>
                </a:solidFill>
                <a:latin typeface="Aptos"/>
              </a:defRPr>
            </a:pPr>
            <a:r>
              <a:t>Objektif, soalan kajian dan hipotesis</a:t>
            </a:r>
          </a:p>
          <a:p>
            <a:pPr>
              <a:spcAft>
                <a:spcPts val="800"/>
              </a:spcAft>
              <a:defRPr sz="1900">
                <a:solidFill>
                  <a:srgbClr val="212B36"/>
                </a:solidFill>
                <a:latin typeface="Aptos"/>
              </a:defRPr>
            </a:pPr>
            <a:r>
              <a:t>Sorotan literatur utama dan jurang penyelidikan</a:t>
            </a:r>
          </a:p>
          <a:p>
            <a:pPr>
              <a:spcAft>
                <a:spcPts val="800"/>
              </a:spcAft>
              <a:defRPr sz="1900">
                <a:solidFill>
                  <a:srgbClr val="212B36"/>
                </a:solidFill>
                <a:latin typeface="Aptos"/>
              </a:defRPr>
            </a:pPr>
            <a:r>
              <a:t>Kerangka konseptual hubungan faktor linguistik dengan strategi pengajaran</a:t>
            </a:r>
          </a:p>
          <a:p>
            <a:pPr>
              <a:spcAft>
                <a:spcPts val="800"/>
              </a:spcAft>
              <a:defRPr sz="1900">
                <a:solidFill>
                  <a:srgbClr val="212B36"/>
                </a:solidFill>
                <a:latin typeface="Aptos"/>
              </a:defRPr>
            </a:pPr>
            <a:r>
              <a:t>Metodologi, sampel, instrumen dan analisis data</a:t>
            </a:r>
          </a:p>
          <a:p>
            <a:pPr>
              <a:spcAft>
                <a:spcPts val="800"/>
              </a:spcAft>
              <a:defRPr sz="1900">
                <a:solidFill>
                  <a:srgbClr val="212B36"/>
                </a:solidFill>
                <a:latin typeface="Aptos"/>
              </a:defRPr>
            </a:pPr>
            <a:r>
              <a:t>Jadual pelaksanaan dan sumbangan kajian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08760"/>
            <a:ext cx="4754880" cy="30632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1508760"/>
            <a:ext cx="109728" cy="3063240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1618488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4D64"/>
                </a:solidFill>
                <a:latin typeface="Aptos"/>
              </a:defRPr>
            </a:pPr>
            <a:r>
              <a:t>Fokus teras pembentangan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1968" y="1929384"/>
            <a:ext cx="4462272" cy="258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  <a:r>
              <a:t>Kajian ini menguji sama ada strategi pengajaran literasi menjadi lebih berkesan apabila dipadankan dengan keperluan linguistik murid.</a:t>
            </a:r>
          </a:p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  <a:r>
              <a:t>Cadangan ini menumpukan murid Tahap 1 kerana fasa ini kritikal untuk pembinaan asas membaca, menulis dan kefahaman.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583680"/>
            <a:ext cx="8686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ptos"/>
              </a:defRPr>
            </a:pPr>
            <a:r>
              <a:t>Cadangan pembentangan proposal kajian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  <a:latin typeface="Aptos Display"/>
              </a:defRPr>
            </a:pPr>
            <a:r>
              <a:t>Latar Belakang Isu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8412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6E4E8"/>
                </a:solidFill>
                <a:latin typeface="Aptos"/>
              </a:defRPr>
            </a:pPr>
            <a:r>
              <a:t>Data rasmi menunjukkan keperluan intervensi literasi awal yang lebih tepat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2011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435608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7A8C"/>
                </a:solidFill>
                <a:latin typeface="Aptos Display"/>
              </a:defRPr>
            </a:pPr>
            <a:r>
              <a:t>448,113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828800"/>
            <a:ext cx="17373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212B36"/>
                </a:solidFill>
                <a:latin typeface="Aptos"/>
              </a:defRPr>
            </a:pPr>
            <a:r>
              <a:t>Murid Tahun 1 disaring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194560"/>
            <a:ext cx="17373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D6C7A"/>
                </a:solidFill>
                <a:latin typeface="Aptos"/>
              </a:defRPr>
            </a:pPr>
            <a:r>
              <a:t>Pengesanan awal literasi dan numerasi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325880"/>
            <a:ext cx="2011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1435608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AF4A4A"/>
                </a:solidFill>
                <a:latin typeface="Aptos Display"/>
              </a:defRPr>
            </a:pPr>
            <a:r>
              <a:t>122,062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4952" y="1828800"/>
            <a:ext cx="17373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212B36"/>
                </a:solidFill>
                <a:latin typeface="Aptos"/>
              </a:defRPr>
            </a:pPr>
            <a:r>
              <a:t>Belum kuasai 3M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952" y="2194560"/>
            <a:ext cx="17373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D6C7A"/>
                </a:solidFill>
                <a:latin typeface="Aptos"/>
              </a:defRPr>
            </a:pPr>
            <a:r>
              <a:t>Sekitar 27.2% daripada jumlah disaring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325880"/>
            <a:ext cx="2011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93792" y="1435608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56945F"/>
                </a:solidFill>
                <a:latin typeface="Aptos Display"/>
              </a:defRPr>
            </a:pPr>
            <a:r>
              <a:t>48,308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1828800"/>
            <a:ext cx="17373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212B36"/>
                </a:solidFill>
                <a:latin typeface="Aptos"/>
              </a:defRPr>
            </a:pPr>
            <a:r>
              <a:t>Berjaya selepas intervensi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3792" y="2194560"/>
            <a:ext cx="17373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D6C7A"/>
                </a:solidFill>
                <a:latin typeface="Aptos"/>
              </a:defRPr>
            </a:pPr>
            <a:r>
              <a:t>Sekitar 39.6% daripada kumpulan sasaran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6400800" y="1508760"/>
          <a:ext cx="5029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777240" y="3154680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12B36"/>
                </a:solidFill>
                <a:latin typeface="Aptos"/>
              </a:defRPr>
            </a:pPr>
            <a:r>
              <a:t>Isyarat utama daripada data ini ialah masalah literasi awal masih besar, tetapi intervensi yang tepat mampu menghasilkan peningkatan yang bermakna dalam tempoh singkat. Soalan pentingnya ialah: strategi mana paling sesuai untuk profil linguistik murid yang berbeza?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1447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i="1">
                <a:solidFill>
                  <a:srgbClr val="5D6C7A"/>
                </a:solidFill>
                <a:latin typeface="Aptos"/>
              </a:defRPr>
            </a:pPr>
            <a:r>
              <a:t>Sumber: Kementerian Pendidikan Malaysia, Perhimpunan Bulanan KPM, 19 Disember 2024; Manual Pengoperasian Pengesanan Literasi dan Numerasi serta Program Intervensi Tahun 1 (2024).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583680"/>
            <a:ext cx="8686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ptos"/>
              </a:defRPr>
            </a:pPr>
            <a:r>
              <a:t>Cadangan pembentangan proposal kajian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  <a:latin typeface="Aptos Display"/>
              </a:defRPr>
            </a:pPr>
            <a:r>
              <a:t>Pernyataan Masalah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8412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6E4E8"/>
                </a:solidFill>
                <a:latin typeface="Aptos"/>
              </a:defRPr>
            </a:pPr>
            <a:r>
              <a:t>Jurang antara keperluan murid dengan respons pedagogi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5577840" cy="4206240"/>
          </a:xfrm>
          <a:prstGeom prst="rect">
            <a:avLst/>
          </a:prstGeom>
          <a:noFill/>
        </p:spPr>
        <p:txBody>
          <a:bodyPr wrap="square" lIns="25400" rIns="25400" tIns="25400" anchor="t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B36"/>
                </a:solidFill>
                <a:latin typeface="Aptos"/>
              </a:defRPr>
            </a:pPr>
            <a:r>
              <a:t>Sebahagian murid Tahap 1 masih belum menguasai literasi asas walaupun intervensi telah dilaksanakan.</a:t>
            </a:r>
          </a:p>
          <a:p>
            <a:pPr>
              <a:spcAft>
                <a:spcPts val="800"/>
              </a:spcAft>
              <a:defRPr sz="1800">
                <a:solidFill>
                  <a:srgbClr val="212B36"/>
                </a:solidFill>
                <a:latin typeface="Aptos"/>
              </a:defRPr>
            </a:pPr>
            <a:r>
              <a:t>Masalah murid tidak seragam: ada yang lemah pada fonologi, ada yang terbatas dari segi kosa kata, morfologi atau bahasa rumah.</a:t>
            </a:r>
          </a:p>
          <a:p>
            <a:pPr>
              <a:spcAft>
                <a:spcPts val="800"/>
              </a:spcAft>
              <a:defRPr sz="1800">
                <a:solidFill>
                  <a:srgbClr val="212B36"/>
                </a:solidFill>
                <a:latin typeface="Aptos"/>
              </a:defRPr>
            </a:pPr>
            <a:r>
              <a:t>Banyak kajian tempatan membincangkan masalah murid atau strategi guru secara berasingan, tetapi kurang menguji hubungan langsung antara kedua-duanya.</a:t>
            </a:r>
          </a:p>
          <a:p>
            <a:pPr>
              <a:spcAft>
                <a:spcPts val="800"/>
              </a:spcAft>
              <a:defRPr sz="1800">
                <a:solidFill>
                  <a:srgbClr val="212B36"/>
                </a:solidFill>
                <a:latin typeface="Aptos"/>
              </a:defRPr>
            </a:pPr>
            <a:r>
              <a:t>Tanpa data tentang padanan strategi dengan faktor linguistik, intervensi berisiko kekal umum dan kurang tepat sasaran.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1508760"/>
            <a:ext cx="4526280" cy="3474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20840" y="1508760"/>
            <a:ext cx="109728" cy="347472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22008" y="1618488"/>
            <a:ext cx="4251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4D64"/>
                </a:solidFill>
                <a:latin typeface="Aptos"/>
              </a:defRPr>
            </a:pPr>
            <a:r>
              <a:t>Soalan utama kajian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22008" y="1929384"/>
            <a:ext cx="4233672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  <a:r>
              <a:t>Adakah strategi pengajaran literasi Bahasa Melayu menjadi lebih berkesan apabila disesuaikan dengan profil linguistik murid Tahap 1?</a:t>
            </a:r>
          </a:p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  <a:r>
              <a:t>Jika ya, faktor linguistik manakah yang paling kuat mempengaruhi keberkesanannya?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1447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i="1">
                <a:solidFill>
                  <a:srgbClr val="5D6C7A"/>
                </a:solidFill>
                <a:latin typeface="Aptos"/>
              </a:defRPr>
            </a:pPr>
            <a:r>
              <a:t>Rujukan utama: Chew (2016); Wan Ahmad (2019); Nahar (2020); Low &amp; Mahamod (2024); Low et al. (2024).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583680"/>
            <a:ext cx="8686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ptos"/>
              </a:defRPr>
            </a:pPr>
            <a:r>
              <a:t>Cadangan pembentangan proposal kajian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  <a:latin typeface="Aptos Display"/>
              </a:defRPr>
            </a:pPr>
            <a:r>
              <a:t>Tujuan, Objektif dan Soalan Kajian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188720" cy="347472"/>
          </a:xfrm>
          <a:prstGeom prst="round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Tujuan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120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12B36"/>
                </a:solidFill>
                <a:latin typeface="Aptos"/>
              </a:defRPr>
            </a:pPr>
            <a:r>
              <a:t>Meneliti hubungan antara faktor linguistik murid Tahap 1 dengan keberkesanan strategi pengajaran literasi Bahasa Melayu di sekolah rendah.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1371600" cy="347472"/>
          </a:xfrm>
          <a:prstGeom prst="round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Objektif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5303520" cy="2743200"/>
          </a:xfrm>
          <a:prstGeom prst="rect">
            <a:avLst/>
          </a:prstGeom>
          <a:noFill/>
        </p:spPr>
        <p:txBody>
          <a:bodyPr wrap="square" lIns="25400" rIns="25400" tIns="25400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12B36"/>
                </a:solidFill>
                <a:latin typeface="Aptos"/>
              </a:defRPr>
            </a:pPr>
            <a:r>
              <a:t>Mengenal pasti tahap faktor linguistik utama murid.</a:t>
            </a:r>
          </a:p>
          <a:p>
            <a:pPr>
              <a:spcAft>
                <a:spcPts val="800"/>
              </a:spcAft>
              <a:defRPr sz="1500">
                <a:solidFill>
                  <a:srgbClr val="212B36"/>
                </a:solidFill>
                <a:latin typeface="Aptos"/>
              </a:defRPr>
            </a:pPr>
            <a:r>
              <a:t>Mengenal pasti strategi pengajaran yang digunakan guru.</a:t>
            </a:r>
          </a:p>
          <a:p>
            <a:pPr>
              <a:spcAft>
                <a:spcPts val="800"/>
              </a:spcAft>
              <a:defRPr sz="1500">
                <a:solidFill>
                  <a:srgbClr val="212B36"/>
                </a:solidFill>
                <a:latin typeface="Aptos"/>
              </a:defRPr>
            </a:pPr>
            <a:r>
              <a:t>Menentukan hubungan antara faktor linguistik dengan keberkesanan strategi.</a:t>
            </a:r>
          </a:p>
          <a:p>
            <a:pPr>
              <a:spcAft>
                <a:spcPts val="800"/>
              </a:spcAft>
              <a:defRPr sz="1500">
                <a:solidFill>
                  <a:srgbClr val="212B36"/>
                </a:solidFill>
                <a:latin typeface="Aptos"/>
              </a:defRPr>
            </a:pPr>
            <a:r>
              <a:t>Mengenal pasti faktor linguistik yang paling dominan meramal keberkesanan.</a:t>
            </a:r>
          </a:p>
          <a:p>
            <a:pPr>
              <a:spcAft>
                <a:spcPts val="800"/>
              </a:spcAft>
              <a:defRPr sz="1500">
                <a:solidFill>
                  <a:srgbClr val="212B36"/>
                </a:solidFill>
                <a:latin typeface="Aptos"/>
              </a:defRPr>
            </a:pPr>
            <a:r>
              <a:t>Meneroka penyesuaian strategi berdasarkan profil murid.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325880"/>
            <a:ext cx="4709160" cy="4434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325880"/>
            <a:ext cx="109728" cy="4434840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47688" y="1435608"/>
            <a:ext cx="4434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4D64"/>
                </a:solidFill>
                <a:latin typeface="Aptos"/>
              </a:defRPr>
            </a:pPr>
            <a:r>
              <a:t>Soalan kajian teras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7688" y="1746504"/>
            <a:ext cx="4416552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  <a:r>
              <a:t>1. Apakah tahap kesedaran fonologi, morfologi, kosa kata dan pengaruh bahasa rumah murid?</a:t>
            </a:r>
          </a:p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  <a:r>
              <a:t>2. Apakah strategi pengajaran yang paling kerap digunakan guru?</a:t>
            </a:r>
          </a:p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  <a:r>
              <a:t>3. Adakah terdapat hubungan signifikan antara faktor linguistik dengan keberkesanan strategi?</a:t>
            </a:r>
          </a:p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  <a:r>
              <a:t>4. Faktor manakah paling dominan meramal keberkesanan?</a:t>
            </a:r>
          </a:p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  <a:r>
              <a:t>5. Bagaimanakah guru menyesuaikan strategi mengikut profil murid?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6583680"/>
            <a:ext cx="8686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ptos"/>
              </a:defRPr>
            </a:pPr>
            <a:r>
              <a:t>Cadangan pembentangan proposal kajian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  <a:latin typeface="Aptos Display"/>
              </a:defRPr>
            </a:pPr>
            <a:r>
              <a:t>Sorotan Literatur: Faktor Linguistik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2606040" cy="1828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" cy="18288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344168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4D64"/>
                </a:solidFill>
                <a:latin typeface="Aptos"/>
              </a:defRPr>
            </a:pPr>
            <a:r>
              <a:t>Kesedaran fonologi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655064"/>
            <a:ext cx="2313432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  <a:r>
              <a:t>Asas kepada hubungan bunyi-huruf dan penyahkodan.</a:t>
            </a:r>
          </a:p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  <a:r>
              <a:t>Murid yang lemah pada bunyi, rima dan suku kata cenderung lebih sukar membaca awal.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234440"/>
            <a:ext cx="2606040" cy="1828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0440" y="1234440"/>
            <a:ext cx="109728" cy="1828800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8" y="1344168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4D64"/>
                </a:solidFill>
                <a:latin typeface="Aptos"/>
              </a:defRPr>
            </a:pPr>
            <a:r>
              <a:t>Kesedaran morfologi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8" y="1655064"/>
            <a:ext cx="2313432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  <a:r>
              <a:t>Penting untuk memahami kata dasar dan kata terbitan.</a:t>
            </a:r>
          </a:p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  <a:r>
              <a:t>Makin penting apabila teks semakin kaya dengan imbuhan.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234440"/>
            <a:ext cx="2606040" cy="1828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234440"/>
            <a:ext cx="109728" cy="1828800"/>
          </a:xfrm>
          <a:prstGeom prst="rect">
            <a:avLst/>
          </a:prstGeom>
          <a:solidFill>
            <a:srgbClr val="569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1344168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4D64"/>
                </a:solidFill>
                <a:latin typeface="Aptos"/>
              </a:defRPr>
            </a:pPr>
            <a:r>
              <a:t>Kosa kata &amp; bahasa lisan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655064"/>
            <a:ext cx="2313432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  <a:r>
              <a:t>Menentukan kefahaman, bukan sekadar kebolehan menyebut.</a:t>
            </a:r>
          </a:p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  <a:r>
              <a:t>Pendedahan bahasa yang kaya membantu pembacaan bermakna.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234440"/>
            <a:ext cx="2331720" cy="1828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98280" y="1234440"/>
            <a:ext cx="109728" cy="1828800"/>
          </a:xfrm>
          <a:prstGeom prst="rect">
            <a:avLst/>
          </a:prstGeom>
          <a:solidFill>
            <a:srgbClr val="AF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1344168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4D64"/>
                </a:solidFill>
                <a:latin typeface="Aptos"/>
              </a:defRPr>
            </a:pPr>
            <a:r>
              <a:t>Bahasa rumah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9448" y="1655064"/>
            <a:ext cx="2039112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  <a:r>
              <a:t>Bahasa ibunda dan ekologi bahasa memberi kesan pada input, sebutan dan keyakinan menggunakan BM.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657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12B36"/>
                </a:solidFill>
                <a:latin typeface="Aptos"/>
              </a:defRPr>
            </a:pPr>
            <a:r>
              <a:t>Sorotan literatur menunjukkan prestasi literasi awal tidak boleh dijelaskan melalui satu faktor sahaja. Sebaliknya, prestasi murid terbentuk melalui gabungan komponen fonologi, morfologi, kosa kata dan pengalaman bahasa harian.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1447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i="1">
                <a:solidFill>
                  <a:srgbClr val="5D6C7A"/>
                </a:solidFill>
                <a:latin typeface="Aptos"/>
              </a:defRPr>
            </a:pPr>
            <a:r>
              <a:t>Rujukan utama: Hoover &amp; Gough (1990); Sumardi (2010); Chin et al. (2012); Nahar (2020); Low et al. (2024).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583680"/>
            <a:ext cx="8686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ptos"/>
              </a:defRPr>
            </a:pPr>
            <a:r>
              <a:t>Cadangan pembentangan proposal kajian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  <a:latin typeface="Aptos Display"/>
              </a:defRPr>
            </a:pPr>
            <a:r>
              <a:t>Sorotan Literatur: Strategi Pengajaran dan Jurang Kajian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5303520" cy="4206240"/>
          </a:xfrm>
          <a:prstGeom prst="rect">
            <a:avLst/>
          </a:prstGeom>
          <a:noFill/>
        </p:spPr>
        <p:txBody>
          <a:bodyPr wrap="square" lIns="25400" rIns="25400" tIns="25400" anchor="t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B36"/>
                </a:solidFill>
                <a:latin typeface="Aptos"/>
              </a:defRPr>
            </a:pPr>
            <a:r>
              <a:t>Pengajaran langsung dan eksplisit penting untuk bunyi-huruf, suku kata dan bacaan awal.</a:t>
            </a:r>
          </a:p>
          <a:p>
            <a:pPr>
              <a:spcAft>
                <a:spcPts val="800"/>
              </a:spcAft>
              <a:defRPr sz="1800">
                <a:solidFill>
                  <a:srgbClr val="212B36"/>
                </a:solidFill>
                <a:latin typeface="Aptos"/>
              </a:defRPr>
            </a:pPr>
            <a:r>
              <a:t>Pengajaran kumpulan kecil dan bimbingan berfokus membantu murid yang belum menguasai konstruk tertentu.</a:t>
            </a:r>
          </a:p>
          <a:p>
            <a:pPr>
              <a:spcAft>
                <a:spcPts val="800"/>
              </a:spcAft>
              <a:defRPr sz="1800">
                <a:solidFill>
                  <a:srgbClr val="212B36"/>
                </a:solidFill>
                <a:latin typeface="Aptos"/>
              </a:defRPr>
            </a:pPr>
            <a:r>
              <a:t>Analisis kosa kata, bahan bacaan terkawal dan aktiviti berpusatkan murid meningkatkan penglibatan dan kefahaman.</a:t>
            </a:r>
          </a:p>
          <a:p>
            <a:pPr>
              <a:spcAft>
                <a:spcPts val="800"/>
              </a:spcAft>
              <a:defRPr sz="1800">
                <a:solidFill>
                  <a:srgbClr val="212B36"/>
                </a:solidFill>
                <a:latin typeface="Aptos"/>
              </a:defRPr>
            </a:pPr>
            <a:r>
              <a:t>Dalam konteks SJKC, guru sering menyesuaikan strategi dengan cabaran bahasa ibunda dan minat murid.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417320"/>
            <a:ext cx="4572000" cy="35661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0" y="1417320"/>
            <a:ext cx="109728" cy="356616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84848" y="1527048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4D64"/>
                </a:solidFill>
                <a:latin typeface="Aptos"/>
              </a:defRPr>
            </a:pPr>
            <a:r>
              <a:t>Jurang penyelidikan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4848" y="1837944"/>
            <a:ext cx="4279392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  <a:r>
              <a:t>Kajian tempatan banyak meneroka masalah penguasaan murid atau amalan guru secara berasingan.</a:t>
            </a:r>
          </a:p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  <a:r>
              <a:t>Masih terhad kajian yang menguji hubungan langsung antara faktor linguistik murid Tahap 1 dengan keberkesanan strategi pengajaran dalam satu model kajian yang menyeluruh.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1447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i="1">
                <a:solidFill>
                  <a:srgbClr val="5D6C7A"/>
                </a:solidFill>
                <a:latin typeface="Aptos"/>
              </a:defRPr>
            </a:pPr>
            <a:r>
              <a:t>Rujukan utama: IES (2017); Wan Ahmad (2019); Hamzah &amp; Mahamod (2021); Low &amp; Mahamod (2024).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583680"/>
            <a:ext cx="8686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ptos"/>
              </a:defRPr>
            </a:pPr>
            <a:r>
              <a:t>Cadangan pembentangan proposal kajian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  <a:latin typeface="Aptos Display"/>
              </a:defRPr>
            </a:pPr>
            <a:r>
              <a:t>Kerangka Konseptual Kajian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8412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6E4E8"/>
                </a:solidFill>
                <a:latin typeface="Aptos"/>
              </a:defRPr>
            </a:pPr>
            <a:r>
              <a:t>Strategi berkesan apabila dipadankan dengan profil linguistik murid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92040" y="2880360"/>
            <a:ext cx="2560320" cy="1097280"/>
          </a:xfrm>
          <a:prstGeom prst="round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  <a:latin typeface="Aptos"/>
              </a:defRPr>
            </a:pPr>
            <a:r>
              <a:t>Keberkesanan</a:t>
            </a:r>
            <a:br/>
            <a:r>
              <a:t>strategi pengajaran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2880360"/>
            <a:ext cx="2560320" cy="1097280"/>
          </a:xfrm>
          <a:prstGeom prst="round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  <a:latin typeface="Aptos"/>
              </a:defRPr>
            </a:pPr>
            <a:r>
              <a:t>Hasil literasi murid</a:t>
            </a:r>
            <a:br/>
            <a:r>
              <a:t>bacaan, kefahaman, tulisan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24231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12B36"/>
                </a:solidFill>
                <a:latin typeface="Aptos"/>
              </a:defRPr>
            </a:pPr>
            <a:r>
              <a:t>Kesedaran</a:t>
            </a:r>
            <a:br/>
            <a:r>
              <a:t>fonologi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46120" y="2203703"/>
            <a:ext cx="1645920" cy="1225297"/>
          </a:xfrm>
          <a:prstGeom prst="line">
            <a:avLst/>
          </a:prstGeom>
          <a:ln w="19050">
            <a:solidFill>
              <a:srgbClr val="1F7A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22960" y="2788920"/>
            <a:ext cx="24231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12B36"/>
                </a:solidFill>
                <a:latin typeface="Aptos"/>
              </a:defRPr>
            </a:pPr>
            <a:r>
              <a:t>Kesedaran</a:t>
            </a:r>
            <a:br/>
            <a:r>
              <a:t>morfologi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46120" y="3118104"/>
            <a:ext cx="1645920" cy="310896"/>
          </a:xfrm>
          <a:prstGeom prst="line">
            <a:avLst/>
          </a:prstGeom>
          <a:ln w="19050">
            <a:solidFill>
              <a:srgbClr val="1F7A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2960" y="3703320"/>
            <a:ext cx="24231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12B36"/>
                </a:solidFill>
                <a:latin typeface="Aptos"/>
              </a:defRPr>
            </a:pPr>
            <a:r>
              <a:t>Kosa kata &amp;</a:t>
            </a:r>
            <a:br/>
            <a:r>
              <a:t>bahasa lisan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246120" y="3429000"/>
            <a:ext cx="1645920" cy="603504"/>
          </a:xfrm>
          <a:prstGeom prst="line">
            <a:avLst/>
          </a:prstGeom>
          <a:ln w="19050">
            <a:solidFill>
              <a:srgbClr val="1F7A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22960" y="4617720"/>
            <a:ext cx="24231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12B36"/>
                </a:solidFill>
                <a:latin typeface="Aptos"/>
              </a:defRPr>
            </a:pPr>
            <a:r>
              <a:t>Bahasa ibunda /</a:t>
            </a:r>
            <a:br/>
            <a:r>
              <a:t>bahasa rumah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246120" y="3429000"/>
            <a:ext cx="1645920" cy="1517904"/>
          </a:xfrm>
          <a:prstGeom prst="line">
            <a:avLst/>
          </a:prstGeom>
          <a:ln w="19050">
            <a:solidFill>
              <a:srgbClr val="1F7A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452360" y="3429000"/>
            <a:ext cx="1097280" cy="0"/>
          </a:xfrm>
          <a:prstGeom prst="line">
            <a:avLst/>
          </a:prstGeom>
          <a:ln w="25400">
            <a:solidFill>
              <a:srgbClr val="D9A4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" y="5532120"/>
            <a:ext cx="10424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0">
                <a:solidFill>
                  <a:srgbClr val="5D6C7A"/>
                </a:solidFill>
                <a:latin typeface="Aptos"/>
              </a:defRPr>
            </a:pPr>
            <a:r>
              <a:t>Andaian utama: semakin tepat guru memadankan strategi pengajaran dengan keperluan linguistik murid, semakin tinggi kebarangkalian peningkatan literasi berlaku.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583680"/>
            <a:ext cx="8686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ptos"/>
              </a:defRPr>
            </a:pPr>
            <a:r>
              <a:t>Cadangan pembentangan proposal kajian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  <a:latin typeface="Aptos Display"/>
              </a:defRPr>
            </a:pPr>
            <a:r>
              <a:t>Metodologi Kajian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8412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6E4E8"/>
                </a:solidFill>
                <a:latin typeface="Aptos"/>
              </a:defRPr>
            </a:pPr>
            <a:r>
              <a:t>Reka bentuk kaedah campuran explanatory sequential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3246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9728" cy="324612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481328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4D64"/>
                </a:solidFill>
                <a:latin typeface="Aptos"/>
              </a:defRPr>
            </a:pPr>
            <a:r>
              <a:t>Fasa 1: Kuantitatif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792224"/>
            <a:ext cx="2999232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  <a:r>
              <a:t>Ujian faktor linguistik</a:t>
            </a:r>
          </a:p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  <a:r>
              <a:t>Soal selidik strategi guru</a:t>
            </a:r>
          </a:p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  <a:r>
              <a:t>Ujian literasi pra dan pasca</a:t>
            </a:r>
          </a:p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  <a:r>
              <a:t>Analisis deskriptif, korelasi dan regresi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71600"/>
            <a:ext cx="3291840" cy="3246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371600"/>
            <a:ext cx="109728" cy="3246120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1481328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4D64"/>
                </a:solidFill>
                <a:latin typeface="Aptos"/>
              </a:defRPr>
            </a:pPr>
            <a:r>
              <a:t>Fasa 2: Kualitatif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1792224"/>
            <a:ext cx="2999232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  <a:r>
              <a:t>Temu bual guru terpilih</a:t>
            </a:r>
          </a:p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  <a:r>
              <a:t>Pemerhatian bilik darjah</a:t>
            </a:r>
          </a:p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  <a:r>
              <a:t>Analisis tematik</a:t>
            </a:r>
          </a:p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  <a:r>
              <a:t>Penjelasan terhadap pola dapatan kuantitatif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71600"/>
            <a:ext cx="3291840" cy="3246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371600"/>
            <a:ext cx="109728" cy="3246120"/>
          </a:xfrm>
          <a:prstGeom prst="rect">
            <a:avLst/>
          </a:prstGeom>
          <a:solidFill>
            <a:srgbClr val="569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481328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4D64"/>
                </a:solidFill>
                <a:latin typeface="Aptos"/>
              </a:defRPr>
            </a:pPr>
            <a:r>
              <a:t>Integrasi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1792224"/>
            <a:ext cx="2999232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  <a:r>
              <a:t>Meta-inferens tentang hubungan faktor linguistik dengan keberkesanan strategi pengajaran</a:t>
            </a:r>
          </a:p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  <a:r>
              <a:t>Cadangan amalan intervensi yang lebih bersasar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23360" y="2971800"/>
            <a:ext cx="411480" cy="0"/>
          </a:xfrm>
          <a:prstGeom prst="line">
            <a:avLst/>
          </a:prstGeom>
          <a:ln w="25400">
            <a:solidFill>
              <a:srgbClr val="0E4D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726679" y="2971800"/>
            <a:ext cx="411481" cy="0"/>
          </a:xfrm>
          <a:prstGeom prst="line">
            <a:avLst/>
          </a:prstGeom>
          <a:ln w="25400">
            <a:solidFill>
              <a:srgbClr val="0E4D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2960" y="498348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0">
                <a:solidFill>
                  <a:srgbClr val="212B36"/>
                </a:solidFill>
                <a:latin typeface="Aptos"/>
              </a:defRPr>
            </a:pPr>
            <a:r>
              <a:t>Reka bentuk ini dipilih kerana sesuai untuk mengukur kekuatan hubungan terlebih dahulu, kemudian menjelaskan mengapa dan bagaimana strategi tertentu lebih berkesan untuk kumpulan murid yang berbeza.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583680"/>
            <a:ext cx="8686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ptos"/>
              </a:defRPr>
            </a:pPr>
            <a:r>
              <a:t>Cadangan pembentangan proposal kajian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  <a:latin typeface="Aptos Display"/>
              </a:defRPr>
            </a:pPr>
            <a:r>
              <a:t>Populasi, Sampel dan Instrumen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017520" cy="1965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9728" cy="196596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43560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4D64"/>
                </a:solidFill>
                <a:latin typeface="Aptos"/>
              </a:defRPr>
            </a:pPr>
            <a:r>
              <a:t>Populasi &amp; lokasi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746504"/>
            <a:ext cx="2724912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  <a:r>
              <a:t>Sekolah rendah kerajaan dan bantuan kerajaan dalam sebuah daerah yang mempunyai kepelbagaian latar bahasa.</a:t>
            </a:r>
          </a:p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  <a:r>
              <a:t>Fokus pada murid Tahap 1 dan guru Bahasa Melayu Tahap 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7639" y="1325880"/>
            <a:ext cx="3017520" cy="1965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977639" y="1325880"/>
            <a:ext cx="109728" cy="1965960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78807" y="143560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4D64"/>
                </a:solidFill>
                <a:latin typeface="Aptos"/>
              </a:defRPr>
            </a:pPr>
            <a:r>
              <a:t>Sampel kuantitatif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78807" y="1746504"/>
            <a:ext cx="2724912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  <a:r>
              <a:t>300 orang murid Tahap 1</a:t>
            </a:r>
          </a:p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  <a:r>
              <a:t>30 orang guru Bahasa Melayu</a:t>
            </a:r>
          </a:p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  <a:r>
              <a:t>10 buah sekolah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1325880"/>
            <a:ext cx="3977639" cy="1965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23760" y="1325880"/>
            <a:ext cx="109728" cy="1965960"/>
          </a:xfrm>
          <a:prstGeom prst="rect">
            <a:avLst/>
          </a:prstGeom>
          <a:solidFill>
            <a:srgbClr val="569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4928" y="1435608"/>
            <a:ext cx="3703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4D64"/>
                </a:solidFill>
                <a:latin typeface="Aptos"/>
              </a:defRPr>
            </a:pPr>
            <a:r>
              <a:t>Sampel kualitatif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746504"/>
            <a:ext cx="3685031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  <a:r>
              <a:t>6 orang guru dipilih secara bertujuan berdasarkan variasi dapatan.</a:t>
            </a:r>
          </a:p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  <a:r>
              <a:t>6 sesi pemerhatian bilik darjah untuk triangulasi.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49039"/>
            <a:ext cx="10241280" cy="2011680"/>
          </a:xfrm>
          <a:prstGeom prst="rect">
            <a:avLst/>
          </a:prstGeom>
          <a:noFill/>
        </p:spPr>
        <p:txBody>
          <a:bodyPr wrap="square" lIns="25400" rIns="25400" tIns="25400" anchor="t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B36"/>
                </a:solidFill>
                <a:latin typeface="Aptos"/>
              </a:defRPr>
            </a:pPr>
            <a:r>
              <a:t>Ujian kesedaran fonologi</a:t>
            </a:r>
          </a:p>
          <a:p>
            <a:pPr>
              <a:spcAft>
                <a:spcPts val="800"/>
              </a:spcAft>
              <a:defRPr sz="1600">
                <a:solidFill>
                  <a:srgbClr val="212B36"/>
                </a:solidFill>
                <a:latin typeface="Aptos"/>
              </a:defRPr>
            </a:pPr>
            <a:r>
              <a:t>Ujian kesedaran morfologi asas</a:t>
            </a:r>
          </a:p>
          <a:p>
            <a:pPr>
              <a:spcAft>
                <a:spcPts val="800"/>
              </a:spcAft>
              <a:defRPr sz="1600">
                <a:solidFill>
                  <a:srgbClr val="212B36"/>
                </a:solidFill>
                <a:latin typeface="Aptos"/>
              </a:defRPr>
            </a:pPr>
            <a:r>
              <a:t>Ujian kosa kata dan bahasa lisan</a:t>
            </a:r>
          </a:p>
          <a:p>
            <a:pPr>
              <a:spcAft>
                <a:spcPts val="800"/>
              </a:spcAft>
              <a:defRPr sz="1600">
                <a:solidFill>
                  <a:srgbClr val="212B36"/>
                </a:solidFill>
                <a:latin typeface="Aptos"/>
              </a:defRPr>
            </a:pPr>
            <a:r>
              <a:t>Soal selidik bahasa rumah</a:t>
            </a:r>
          </a:p>
          <a:p>
            <a:pPr>
              <a:spcAft>
                <a:spcPts val="800"/>
              </a:spcAft>
              <a:defRPr sz="1600">
                <a:solidFill>
                  <a:srgbClr val="212B36"/>
                </a:solidFill>
                <a:latin typeface="Aptos"/>
              </a:defRPr>
            </a:pPr>
            <a:r>
              <a:t>Soal selidik strategi pengajaran guru</a:t>
            </a:r>
          </a:p>
          <a:p>
            <a:pPr>
              <a:spcAft>
                <a:spcPts val="800"/>
              </a:spcAft>
              <a:defRPr sz="1600">
                <a:solidFill>
                  <a:srgbClr val="212B36"/>
                </a:solidFill>
                <a:latin typeface="Aptos"/>
              </a:defRPr>
            </a:pPr>
            <a:r>
              <a:t>Ujian literasi Bahasa Melayu pra dan pasca</a:t>
            </a:r>
          </a:p>
          <a:p>
            <a:pPr>
              <a:spcAft>
                <a:spcPts val="800"/>
              </a:spcAft>
              <a:defRPr sz="1600">
                <a:solidFill>
                  <a:srgbClr val="212B36"/>
                </a:solidFill>
                <a:latin typeface="Aptos"/>
              </a:defRPr>
            </a:pPr>
            <a:r>
              <a:t>Borang pemerhatian PdP dan protokol temu bual guru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583680"/>
            <a:ext cx="8686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ptos"/>
              </a:defRPr>
            </a:pPr>
            <a:r>
              <a:t>Cadangan pembentangan proposal kajian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  <a:latin typeface="Aptos Display"/>
              </a:defRPr>
            </a:pPr>
            <a:r>
              <a:t>Analisis Data dan Hipotesis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46120" cy="3246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9728" cy="324612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481328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4D64"/>
                </a:solidFill>
                <a:latin typeface="Aptos"/>
              </a:defRPr>
            </a:pPr>
            <a:r>
              <a:t>Hipotesis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792224"/>
            <a:ext cx="2953512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  <a:r>
              <a:t>H1 hingga H4 menguji hubungan antara faktor linguistik dengan keberkesanan strategi.</a:t>
            </a:r>
          </a:p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  <a:r>
              <a:t>H5 menguji faktor peramal dominan terhadap keberkesanan strategi pengajaran.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246120" cy="3246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109728" cy="3246120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1481328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4D64"/>
                </a:solidFill>
                <a:latin typeface="Aptos"/>
              </a:defRPr>
            </a:pPr>
            <a:r>
              <a:t>Analisis kuantitatif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1792224"/>
            <a:ext cx="2953512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  <a:r>
              <a:t>Statistik deskriptif</a:t>
            </a:r>
          </a:p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  <a:r>
              <a:t>Ujian normaliti</a:t>
            </a:r>
          </a:p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  <a:r>
              <a:t>Korelasi Pearson</a:t>
            </a:r>
          </a:p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  <a:r>
              <a:t>Regresi berganda</a:t>
            </a:r>
          </a:p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  <a:r>
              <a:t>Paired sample t-test</a:t>
            </a:r>
          </a:p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  <a:r>
              <a:t>ANOVA jika perlu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371600"/>
            <a:ext cx="3383280" cy="3246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0" y="1371600"/>
            <a:ext cx="109728" cy="3246120"/>
          </a:xfrm>
          <a:prstGeom prst="rect">
            <a:avLst/>
          </a:prstGeom>
          <a:solidFill>
            <a:srgbClr val="569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65008" y="148132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4D64"/>
                </a:solidFill>
                <a:latin typeface="Aptos"/>
              </a:defRPr>
            </a:pPr>
            <a:r>
              <a:t>Analisis kualitatif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1792224"/>
            <a:ext cx="3090672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  <a:r>
              <a:t>Pengekodan terbuka</a:t>
            </a:r>
          </a:p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  <a:r>
              <a:t>Pengelompokan kategori</a:t>
            </a:r>
          </a:p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  <a:r>
              <a:t>Pembinaan tema</a:t>
            </a:r>
          </a:p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  <a:r>
              <a:t>Integrasi dapatan dengan hasil kuantitatif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983480"/>
            <a:ext cx="104241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0">
                <a:solidFill>
                  <a:srgbClr val="212B36"/>
                </a:solidFill>
                <a:latin typeface="Aptos"/>
              </a:defRPr>
            </a:pPr>
            <a:r>
              <a:t>Fokus analitik bukan sekadar melihat sama ada strategi digunakan, tetapi sejauh mana strategi itu benar-benar berkesan untuk murid dengan profil linguistik yang berbeza.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583680"/>
            <a:ext cx="8686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ptos"/>
              </a:defRPr>
            </a:pPr>
            <a:r>
              <a:t>Cadangan pembentangan proposal kajian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  <a:latin typeface="Aptos Display"/>
              </a:defRPr>
            </a:pPr>
            <a:r>
              <a:t>Jadual Pelaksanaan Kajian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8813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6583680"/>
                <a:gridCol w="3291840"/>
              </a:tblGrid>
              <a:tr h="42976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Fasa</a:t>
                      </a:r>
                    </a:p>
                  </a:txBody>
                  <a:tcPr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Aktiviti</a:t>
                      </a:r>
                    </a:p>
                  </a:txBody>
                  <a:tcPr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Tempoh</a:t>
                      </a:r>
                    </a:p>
                  </a:txBody>
                  <a:tcPr>
                    <a:solidFill>
                      <a:srgbClr val="0E4D6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B36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  <a:latin typeface="Aptos"/>
                        </a:defRPr>
                      </a:pPr>
                      <a:r>
                        <a:t>Pembinaan proposal, semakan literatur, pembangunan instrumen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B36"/>
                          </a:solidFill>
                          <a:latin typeface="Aptos"/>
                        </a:defRPr>
                      </a:pPr>
                      <a:r>
                        <a:t>Bulan 1-2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B36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0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  <a:latin typeface="Aptos"/>
                        </a:defRPr>
                      </a:pPr>
                      <a:r>
                        <a:t>Semakan pakar, kajian rintis, penambahbaikan instrumen</a:t>
                      </a:r>
                    </a:p>
                  </a:txBody>
                  <a:tcPr>
                    <a:solidFill>
                      <a:srgbClr val="F5F0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B36"/>
                          </a:solidFill>
                          <a:latin typeface="Aptos"/>
                        </a:defRPr>
                      </a:pPr>
                      <a:r>
                        <a:t>Bulan 3</a:t>
                      </a:r>
                    </a:p>
                  </a:txBody>
                  <a:tcPr>
                    <a:solidFill>
                      <a:srgbClr val="F5F0E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B36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  <a:latin typeface="Aptos"/>
                        </a:defRPr>
                      </a:pPr>
                      <a:r>
                        <a:t>Kebenaran dan penyelarasan dengan sekolah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B36"/>
                          </a:solidFill>
                          <a:latin typeface="Aptos"/>
                        </a:defRPr>
                      </a:pPr>
                      <a:r>
                        <a:t>Bulan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B36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0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  <a:latin typeface="Aptos"/>
                        </a:defRPr>
                      </a:pPr>
                      <a:r>
                        <a:t>Ujian pra dan pengumpulan data kuantitatif</a:t>
                      </a:r>
                    </a:p>
                  </a:txBody>
                  <a:tcPr>
                    <a:solidFill>
                      <a:srgbClr val="F5F0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B36"/>
                          </a:solidFill>
                          <a:latin typeface="Aptos"/>
                        </a:defRPr>
                      </a:pPr>
                      <a:r>
                        <a:t>Bulan 5</a:t>
                      </a:r>
                    </a:p>
                  </a:txBody>
                  <a:tcPr>
                    <a:solidFill>
                      <a:srgbClr val="F5F0E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B36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  <a:latin typeface="Aptos"/>
                        </a:defRPr>
                      </a:pPr>
                      <a:r>
                        <a:t>Pemerhatian PdP dan tempoh pengajaran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B36"/>
                          </a:solidFill>
                          <a:latin typeface="Aptos"/>
                        </a:defRPr>
                      </a:pPr>
                      <a:r>
                        <a:t>Bulan 5-6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B36"/>
                          </a:solidFill>
                          <a:latin typeface="Aptos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5F0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  <a:latin typeface="Aptos"/>
                        </a:defRPr>
                      </a:pPr>
                      <a:r>
                        <a:t>Ujian pasca dan analisis awal</a:t>
                      </a:r>
                    </a:p>
                  </a:txBody>
                  <a:tcPr>
                    <a:solidFill>
                      <a:srgbClr val="F5F0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B36"/>
                          </a:solidFill>
                          <a:latin typeface="Aptos"/>
                        </a:defRPr>
                      </a:pPr>
                      <a:r>
                        <a:t>Bulan 7</a:t>
                      </a:r>
                    </a:p>
                  </a:txBody>
                  <a:tcPr>
                    <a:solidFill>
                      <a:srgbClr val="F5F0E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B36"/>
                          </a:solidFill>
                          <a:latin typeface="Aptos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  <a:latin typeface="Aptos"/>
                        </a:defRPr>
                      </a:pPr>
                      <a:r>
                        <a:t>Temu bual dan pemerhatian kualitatif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B36"/>
                          </a:solidFill>
                          <a:latin typeface="Aptos"/>
                        </a:defRPr>
                      </a:pPr>
                      <a:r>
                        <a:t>Bulan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B36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5F0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  <a:latin typeface="Aptos"/>
                        </a:defRPr>
                      </a:pPr>
                      <a:r>
                        <a:t>Integrasi dapatan dan interpretasi</a:t>
                      </a:r>
                    </a:p>
                  </a:txBody>
                  <a:tcPr>
                    <a:solidFill>
                      <a:srgbClr val="F5F0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B36"/>
                          </a:solidFill>
                          <a:latin typeface="Aptos"/>
                        </a:defRPr>
                      </a:pPr>
                      <a:r>
                        <a:t>Bulan 9</a:t>
                      </a:r>
                    </a:p>
                  </a:txBody>
                  <a:tcPr>
                    <a:solidFill>
                      <a:srgbClr val="F5F0E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B36"/>
                          </a:solidFill>
                          <a:latin typeface="Aptos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  <a:latin typeface="Aptos"/>
                        </a:defRPr>
                      </a:pPr>
                      <a:r>
                        <a:t>Penulisan laporan akhir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B36"/>
                          </a:solidFill>
                          <a:latin typeface="Aptos"/>
                        </a:defRPr>
                      </a:pPr>
                      <a:r>
                        <a:t>Bulan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8686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ptos"/>
              </a:defRPr>
            </a:pPr>
            <a:r>
              <a:t>Cadangan pembentangan proposal kajian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  <a:latin typeface="Aptos Display"/>
              </a:defRPr>
            </a:pPr>
            <a:r>
              <a:t>Sumbangan Kajian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3383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9728" cy="338328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48132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4D64"/>
                </a:solidFill>
                <a:latin typeface="Aptos"/>
              </a:defRPr>
            </a:pPr>
            <a:r>
              <a:t>Sumbangan teori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792224"/>
            <a:ext cx="3090672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  <a:r>
              <a:t>Memperjelas hubungan antara faktor linguistik murid dengan keberkesanan strategi pengajaran literasi Bahasa Melayu dalam konteks Tahap 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71600"/>
            <a:ext cx="3383280" cy="3383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371600"/>
            <a:ext cx="109728" cy="3383280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148132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4D64"/>
                </a:solidFill>
                <a:latin typeface="Aptos"/>
              </a:defRPr>
            </a:pPr>
            <a:r>
              <a:t>Sumbangan amalan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1792224"/>
            <a:ext cx="3090672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  <a:r>
              <a:t>Membantu guru memilih strategi yang lebih tepat berdasarkan masalah fonologi, morfologi, kosa kata atau bahasa rumah murid.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71600"/>
            <a:ext cx="3108960" cy="3383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371600"/>
            <a:ext cx="109728" cy="3383280"/>
          </a:xfrm>
          <a:prstGeom prst="rect">
            <a:avLst/>
          </a:prstGeom>
          <a:solidFill>
            <a:srgbClr val="569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1481328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4D64"/>
                </a:solidFill>
                <a:latin typeface="Aptos"/>
              </a:defRPr>
            </a:pPr>
            <a:r>
              <a:t>Sumbangan dasar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1792224"/>
            <a:ext cx="2816352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12B36"/>
                </a:solidFill>
                <a:latin typeface="Aptos"/>
              </a:defRPr>
            </a:pPr>
            <a:r>
              <a:t>Menyediakan evidens tempatan untuk menyokong intervensi awal, saringan dan panduan pedagogi yang lebih sensitif terhadap kepelbagaian bahasa murid.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1206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0">
                <a:solidFill>
                  <a:srgbClr val="212B36"/>
                </a:solidFill>
                <a:latin typeface="Aptos"/>
              </a:defRPr>
            </a:pPr>
            <a:r>
              <a:t>Hasil akhir yang diharapkan ialah model padanan strategi pengajaran dengan profil linguistik murid Tahap 1 yang boleh digunakan oleh guru dan pihak sekolah.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583680"/>
            <a:ext cx="8686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ptos"/>
              </a:defRPr>
            </a:pPr>
            <a:r>
              <a:t>Cadangan pembentangan proposal kajian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  <a:latin typeface="Aptos Display"/>
              </a:defRPr>
            </a:pPr>
            <a:r>
              <a:t>Rujukan Terpilih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8412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6E4E8"/>
                </a:solidFill>
                <a:latin typeface="Aptos"/>
              </a:defRPr>
            </a:pPr>
            <a:r>
              <a:t>APA 7 ringkas untuk pembentangan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972800" cy="4480560"/>
          </a:xfrm>
          <a:prstGeom prst="rect">
            <a:avLst/>
          </a:prstGeom>
          <a:noFill/>
        </p:spPr>
        <p:txBody>
          <a:bodyPr wrap="square" lIns="25400" rIns="25400" tIns="25400" anchor="t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ptos"/>
              </a:defRPr>
            </a:pPr>
            <a:r>
              <a:t>Chew, F. P. (2016). Masalah pembelajaran Bahasa Melayu dalam kalangan murid Cina sekolah rendah. Jurnal Pendidikan Bahasa Melayu, 6(2), 10-22.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ptos"/>
              </a:defRPr>
            </a:pPr>
            <a:r>
              <a:t>Hoover, W. A., &amp; Gough, P. B. (1990). The simple view of reading. Reading and Writing: An Interdisciplinary Journal, 2(2), 127-160.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ptos"/>
              </a:defRPr>
            </a:pPr>
            <a:r>
              <a:t>Kementerian Pendidikan Malaysia. (2016). Dokumen Standard Kurikulum dan Pentaksiran Bahasa Melayu Tahun 1 Sekolah Kebangsaan.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ptos"/>
              </a:defRPr>
            </a:pPr>
            <a:r>
              <a:t>Kementerian Pendidikan Malaysia. (2024a). Manual pengoperasian pengesanan literasi dan numerasi serta program intervensi Tahun 1.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ptos"/>
              </a:defRPr>
            </a:pPr>
            <a:r>
              <a:t>Low, J. Y., &amp; Mahamod, Z. (2024). Strategi dan cabaran pengajaran kemahiran membaca... Jurnal Pendidikan Bahasa Melayu, 14(2), 117-137.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ptos"/>
              </a:defRPr>
            </a:pPr>
            <a:r>
              <a:t>Low, J. Y., Wee, X. H., Khoo, Y. T., &amp; Anuaruddin, N. F. F. (2024). Persepsi guru terhadap pengaruh bahasa ibunda... Jurnal Pendidikan Bahasa Melayu, 14(1), 1-18.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ptos"/>
              </a:defRPr>
            </a:pPr>
            <a:r>
              <a:t>Nahar, N. (2020). Penguasaan kemahiran membaca dan menulis Bahasa Melayu... Issues in Language Studies, 9(1), 107-123.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ptos"/>
              </a:defRPr>
            </a:pPr>
            <a:r>
              <a:t>Wan Ahmad, W. N. (2019). Amalan guru dalam melaksanakan kemahiran literasi Bahasa Melayu bagi Program LINUS di sekolah rendah. Jurnal Pendidikan Bahasa Melayu, 9(1), 1-11.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83680"/>
            <a:ext cx="8686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ptos"/>
              </a:defRPr>
            </a:pPr>
            <a:r>
              <a:t>Cadangan pembentangan proposal kajian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  <a:latin typeface="Aptos Display"/>
              </a:defRPr>
            </a:pPr>
            <a:r>
              <a:t>Penutup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8412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6E4E8"/>
                </a:solidFill>
                <a:latin typeface="Aptos"/>
              </a:defRPr>
            </a:pPr>
            <a:r>
              <a:t>Terima kasih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12B36"/>
                </a:solidFill>
                <a:latin typeface="Aptos"/>
              </a:defRPr>
            </a:pPr>
            <a:r>
              <a:t>Cadangan kajian ini berhasrat membantu kita bergerak daripada intervensi umum kepada intervensi literasi yang lebih tepat, responsif dan berasaskan profil linguistik murid.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632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F7A8C"/>
                </a:solidFill>
                <a:latin typeface="Aptos"/>
              </a:defRPr>
            </a:pPr>
            <a:r>
              <a:t>Sesi soal jawab dan maklum balas penyelia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2103120"/>
            <a:ext cx="2194560" cy="2194560"/>
          </a:xfrm>
          <a:prstGeom prst="round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Q&amp;A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4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83680"/>
            <a:ext cx="8686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ptos"/>
              </a:defRPr>
            </a:pPr>
            <a:r>
              <a:t>Cadangan pembentangan proposal kajian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